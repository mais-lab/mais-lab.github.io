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6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77248-C340-4E8A-2F90-02385197B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74E7AB-B64D-AACA-2488-10804379E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EFF76-A776-7563-E755-C64724BD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B8E857-30C6-2A71-2558-84962305F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575803-7A0A-2C6A-9852-17915FEA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79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51750-80F1-A5E2-5635-6F6967795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2795A-81E7-B321-82FB-210EA75BE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5DC8F3-E0C3-CD90-4E98-19D55898C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03852C-4643-40DF-11CE-836E1C8D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1869BA-FD6F-E2C2-902B-10EC9584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56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2F1E1-7C9E-BA6D-DA01-E61AFB34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96C4A7-051E-57A0-994B-7A521A15D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EB96F9-EFA2-73C2-943B-FF590074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C7FB2F-77D1-99EF-6846-6F146EF6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3F2264-B4B6-00BF-CE3E-1C561CA3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62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8446E-E25E-AC55-40BC-A9C46918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BFE55F-9344-E5FA-F6A5-189D57C3D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C569EB-FD16-122B-A901-86B69FDB4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2BBF5C-188B-EAF6-D4A2-2D4101EA3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47832-3726-6CC1-6450-8E5B807F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EDDE52-0F99-D8D3-1A43-DD0A0350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30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9CFE1-5D06-0413-7D71-C1EEB625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9F3069-0C64-C272-62EE-029FE9A0A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2A126C-739B-5D10-74D9-D89D06C1F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36BCED-AD7E-6AED-7683-7E6798105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9E6397-677C-0402-3103-BCF19B7F9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1DC59D-1EA7-55FA-1375-5A9E41651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BDA16E-D8E2-BD40-AA3F-8689C826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534A76-40A2-5286-FF60-F3EBC830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32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123F8-8B83-FD2F-BE6C-77F3291D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488742-27FE-6B1D-AD67-65E4A097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BE613A-1125-2857-6072-FBA255788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63A26E-3DA3-AC2A-DBAD-1C28F93F7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610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49E74F-296A-0126-46BD-32F0DA38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9828D3-D550-C676-E057-ABD4E6534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4E9AC5-A72E-098C-EADE-4B9AD5951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39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AA914-2E43-F897-6C87-37DC4A341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BBD6F1-C54A-9A03-ECFD-0AE0516AE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F1360A-DA5C-8464-F940-8E28D098D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8C9D6C-280E-B025-8A89-139F2A74D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3C0EE5-4676-D455-6D8D-6D2B4C96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4B2D45-7B3F-FF70-962B-7D997D91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64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C5359-80BB-C178-2118-5B0C9510C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CD61CD-53C1-A1D4-A960-4034BB225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377C5B-FEB0-D155-54A5-E2ECFDA0F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6CB8E6-A9FA-E33D-DA0B-2C60BCB37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07F4B6-6201-C738-5A56-6C34951A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E7AB28-B6ED-5A16-BED6-F3E866646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51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FD97A-B3DA-2CC1-4093-10D15B73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461A3E-7676-7990-9911-E7F30C6D5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1016F-3246-06CF-493B-FBAB8C97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C96AD2-E167-9D08-1AC1-4AC97994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2343D-87EC-B8B4-1695-8758317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549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D3142E-29AC-E8EE-BB5D-1EEDD2D96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F6C4A1-90E3-67BE-306A-D1AF421A1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6AE4FA-ECA8-7346-5635-21B219E4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F674AB-483A-3126-8AEE-25EF5ED3C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C75210-5BE5-F15B-A016-E4A39A55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5F13FA-79E3-E2AA-598E-C6E5D423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BC3B34-377C-F613-A30A-4EE0A4902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7B7EBC-6A8F-47CB-0489-D3336FE0A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7238B-FDCA-413C-A75C-287F98EDF19C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47F298-710E-90C5-15F9-6B412EE3F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E89F7-F1E4-6234-3473-911BF6425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7FCF7-7B87-4531-AEDC-5AAA76B51B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74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ED137-63ED-AFB0-53D9-621B96C5D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E53C54-72FD-220D-C841-951E67E7C900}"/>
              </a:ext>
            </a:extLst>
          </p:cNvPr>
          <p:cNvSpPr/>
          <p:nvPr/>
        </p:nvSpPr>
        <p:spPr>
          <a:xfrm>
            <a:off x="2349226" y="1321439"/>
            <a:ext cx="7493548" cy="4215121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B1D5E3-492B-CA44-ACE3-B85A712D4A3F}"/>
              </a:ext>
            </a:extLst>
          </p:cNvPr>
          <p:cNvSpPr txBox="1"/>
          <p:nvPr/>
        </p:nvSpPr>
        <p:spPr>
          <a:xfrm>
            <a:off x="152400" y="240944"/>
            <a:ext cx="3793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2025-mobicom-vega.png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7D9F172-713C-8593-8C23-9CF69B3603CB}"/>
              </a:ext>
            </a:extLst>
          </p:cNvPr>
          <p:cNvGrpSpPr/>
          <p:nvPr/>
        </p:nvGrpSpPr>
        <p:grpSpPr>
          <a:xfrm>
            <a:off x="2494602" y="1552613"/>
            <a:ext cx="7230503" cy="3715772"/>
            <a:chOff x="2494602" y="1552613"/>
            <a:chExt cx="7230503" cy="3715772"/>
          </a:xfrm>
        </p:grpSpPr>
        <p:pic>
          <p:nvPicPr>
            <p:cNvPr id="2" name="그림 1" descr="건물, 신발류, 사람, 벽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65CE806-4E6E-1078-C2B6-A766B4D74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4602" y="3322574"/>
              <a:ext cx="2377440" cy="1337310"/>
            </a:xfrm>
            <a:prstGeom prst="rect">
              <a:avLst/>
            </a:prstGeom>
          </p:spPr>
        </p:pic>
        <p:pic>
          <p:nvPicPr>
            <p:cNvPr id="3" name="그림 2" descr="나무, 야외, 새, 가지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D16D13BA-63D2-4C15-EDDF-10DC60187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0366" y="3322572"/>
              <a:ext cx="2377440" cy="1337310"/>
            </a:xfrm>
            <a:prstGeom prst="rect">
              <a:avLst/>
            </a:prstGeom>
          </p:spPr>
        </p:pic>
        <p:pic>
          <p:nvPicPr>
            <p:cNvPr id="10" name="그림 9" descr="벽, 사람, 의류, 실내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F0C38211-9054-723C-29E3-D4989DE91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7665" y="3322567"/>
              <a:ext cx="2377440" cy="1337310"/>
            </a:xfrm>
            <a:prstGeom prst="rect">
              <a:avLst/>
            </a:prstGeom>
          </p:spPr>
        </p:pic>
        <p:pic>
          <p:nvPicPr>
            <p:cNvPr id="26" name="그림 25" descr="실내, 벽, 사람, 집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F4D37012-6A63-EFE6-FC98-FFD52F6AC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00"/>
            <a:stretch/>
          </p:blipFill>
          <p:spPr>
            <a:xfrm>
              <a:off x="2494602" y="1934458"/>
              <a:ext cx="2377440" cy="1337310"/>
            </a:xfrm>
            <a:prstGeom prst="rect">
              <a:avLst/>
            </a:prstGeom>
          </p:spPr>
        </p:pic>
        <p:pic>
          <p:nvPicPr>
            <p:cNvPr id="27" name="그림 26" descr="벽, 실내, 집, 사람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872D5EC4-6B14-DB49-3806-FB8AEBADC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01" b="-1"/>
            <a:stretch/>
          </p:blipFill>
          <p:spPr>
            <a:xfrm>
              <a:off x="4920366" y="1934455"/>
              <a:ext cx="2377440" cy="1337311"/>
            </a:xfrm>
            <a:prstGeom prst="rect">
              <a:avLst/>
            </a:prstGeom>
          </p:spPr>
        </p:pic>
        <p:pic>
          <p:nvPicPr>
            <p:cNvPr id="30" name="그림 29" descr="실내, 벽, 사람, 집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B18A416-6FBA-9C34-8CF3-F444B31F8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999"/>
            <a:stretch/>
          </p:blipFill>
          <p:spPr>
            <a:xfrm>
              <a:off x="7347665" y="1934450"/>
              <a:ext cx="2377440" cy="1337316"/>
            </a:xfrm>
            <a:prstGeom prst="rect">
              <a:avLst/>
            </a:prstGeom>
          </p:spPr>
        </p:pic>
        <p:pic>
          <p:nvPicPr>
            <p:cNvPr id="33" name="그림 32" descr="벽, 실내, 집, 사람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16C462E7-61E7-0783-CDCD-37F6A7258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91" t="68387" r="82124" b="12565"/>
            <a:stretch/>
          </p:blipFill>
          <p:spPr>
            <a:xfrm>
              <a:off x="4927987" y="1552613"/>
              <a:ext cx="914400" cy="914400"/>
            </a:xfrm>
            <a:custGeom>
              <a:avLst/>
              <a:gdLst>
                <a:gd name="connsiteX0" fmla="*/ 0 w 360000"/>
                <a:gd name="connsiteY0" fmla="*/ 0 h 360000"/>
                <a:gd name="connsiteX1" fmla="*/ 360000 w 360000"/>
                <a:gd name="connsiteY1" fmla="*/ 0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360000">
                  <a:moveTo>
                    <a:pt x="0" y="0"/>
                  </a:moveTo>
                  <a:lnTo>
                    <a:pt x="360000" y="0"/>
                  </a:lnTo>
                  <a:lnTo>
                    <a:pt x="360000" y="360000"/>
                  </a:lnTo>
                  <a:lnTo>
                    <a:pt x="0" y="360000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3ECB8A9-FB50-4720-5163-8073C2E0FED6}"/>
                </a:ext>
              </a:extLst>
            </p:cNvPr>
            <p:cNvSpPr/>
            <p:nvPr/>
          </p:nvSpPr>
          <p:spPr>
            <a:xfrm>
              <a:off x="5049790" y="2698005"/>
              <a:ext cx="360000" cy="360000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1FDD0BF-B7CC-E476-984F-5E31E9696548}"/>
                </a:ext>
              </a:extLst>
            </p:cNvPr>
            <p:cNvSpPr/>
            <p:nvPr/>
          </p:nvSpPr>
          <p:spPr>
            <a:xfrm>
              <a:off x="2639476" y="2698005"/>
              <a:ext cx="360000" cy="360000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273436D-3607-4343-486B-D4FBE75450CD}"/>
                </a:ext>
              </a:extLst>
            </p:cNvPr>
            <p:cNvSpPr/>
            <p:nvPr/>
          </p:nvSpPr>
          <p:spPr>
            <a:xfrm>
              <a:off x="7496252" y="2698005"/>
              <a:ext cx="360000" cy="360000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그림 38" descr="실내, 벽, 사람, 집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47102547-9F7A-50A8-CCC4-956646B55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79" t="67818" r="79335" b="13134"/>
            <a:stretch/>
          </p:blipFill>
          <p:spPr>
            <a:xfrm>
              <a:off x="2507214" y="1552613"/>
              <a:ext cx="914400" cy="914400"/>
            </a:xfrm>
            <a:custGeom>
              <a:avLst/>
              <a:gdLst>
                <a:gd name="connsiteX0" fmla="*/ 0 w 360000"/>
                <a:gd name="connsiteY0" fmla="*/ 0 h 360000"/>
                <a:gd name="connsiteX1" fmla="*/ 360000 w 360000"/>
                <a:gd name="connsiteY1" fmla="*/ 0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360000">
                  <a:moveTo>
                    <a:pt x="0" y="0"/>
                  </a:moveTo>
                  <a:lnTo>
                    <a:pt x="360000" y="0"/>
                  </a:lnTo>
                  <a:lnTo>
                    <a:pt x="360000" y="360000"/>
                  </a:lnTo>
                  <a:lnTo>
                    <a:pt x="0" y="360000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</p:pic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8B87D5A7-6EEC-E5A7-8A0E-4E4CA526D299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V="1">
              <a:off x="5229790" y="2480850"/>
              <a:ext cx="0" cy="217155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CCA1C754-5B6C-3571-BEFD-FEB2F6882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5052" y="2480850"/>
              <a:ext cx="0" cy="217155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그림 45" descr="실내, 벽, 사람, 집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09439AF8-828E-5D2D-FA33-CB7289090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96" t="67818" r="79818" b="13134"/>
            <a:stretch/>
          </p:blipFill>
          <p:spPr>
            <a:xfrm>
              <a:off x="7353751" y="1552613"/>
              <a:ext cx="914400" cy="914400"/>
            </a:xfrm>
            <a:custGeom>
              <a:avLst/>
              <a:gdLst>
                <a:gd name="connsiteX0" fmla="*/ 0 w 360000"/>
                <a:gd name="connsiteY0" fmla="*/ 0 h 360000"/>
                <a:gd name="connsiteX1" fmla="*/ 360000 w 360000"/>
                <a:gd name="connsiteY1" fmla="*/ 0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360000">
                  <a:moveTo>
                    <a:pt x="0" y="0"/>
                  </a:moveTo>
                  <a:lnTo>
                    <a:pt x="360000" y="0"/>
                  </a:lnTo>
                  <a:lnTo>
                    <a:pt x="360000" y="360000"/>
                  </a:lnTo>
                  <a:lnTo>
                    <a:pt x="0" y="360000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</p:pic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35E9C8C1-E9BB-892B-B021-388261485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9427" y="2480850"/>
              <a:ext cx="0" cy="217155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2DCAEC0-3F02-366C-A171-338C64C5A3E6}"/>
                </a:ext>
              </a:extLst>
            </p:cNvPr>
            <p:cNvSpPr/>
            <p:nvPr/>
          </p:nvSpPr>
          <p:spPr>
            <a:xfrm>
              <a:off x="3150651" y="3739866"/>
              <a:ext cx="360000" cy="360000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그림 48" descr="건물, 신발류, 사람, 벽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0E9B7AA2-17E9-8F0C-498F-49C07CFF3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034" t="29439" r="59681" b="45165"/>
            <a:stretch>
              <a:fillRect/>
            </a:stretch>
          </p:blipFill>
          <p:spPr>
            <a:xfrm>
              <a:off x="3945426" y="3802090"/>
              <a:ext cx="914400" cy="914400"/>
            </a:xfrm>
            <a:custGeom>
              <a:avLst/>
              <a:gdLst>
                <a:gd name="connsiteX0" fmla="*/ 0 w 360000"/>
                <a:gd name="connsiteY0" fmla="*/ 0 h 360000"/>
                <a:gd name="connsiteX1" fmla="*/ 360000 w 360000"/>
                <a:gd name="connsiteY1" fmla="*/ 0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360000">
                  <a:moveTo>
                    <a:pt x="0" y="0"/>
                  </a:moveTo>
                  <a:lnTo>
                    <a:pt x="360000" y="0"/>
                  </a:lnTo>
                  <a:lnTo>
                    <a:pt x="360000" y="360000"/>
                  </a:lnTo>
                  <a:lnTo>
                    <a:pt x="0" y="360000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</p:pic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D20104B8-7119-32D8-334F-C159301D6B63}"/>
                </a:ext>
              </a:extLst>
            </p:cNvPr>
            <p:cNvCxnSpPr>
              <a:cxnSpLocks/>
            </p:cNvCxnSpPr>
            <p:nvPr/>
          </p:nvCxnSpPr>
          <p:spPr>
            <a:xfrm>
              <a:off x="3510651" y="3919866"/>
              <a:ext cx="422559" cy="390568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DBD7F88-88C1-2E47-C6A8-9EDD5BB18CAE}"/>
                </a:ext>
              </a:extLst>
            </p:cNvPr>
            <p:cNvSpPr/>
            <p:nvPr/>
          </p:nvSpPr>
          <p:spPr>
            <a:xfrm>
              <a:off x="8010474" y="3745477"/>
              <a:ext cx="360000" cy="360000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그림 57" descr="벽, 사람, 의류, 실내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9A5643F2-E68C-28A1-DEF4-25A3F3921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04" t="29835" r="57710" b="44768"/>
            <a:stretch>
              <a:fillRect/>
            </a:stretch>
          </p:blipFill>
          <p:spPr>
            <a:xfrm>
              <a:off x="8800980" y="3781760"/>
              <a:ext cx="914400" cy="914400"/>
            </a:xfrm>
            <a:custGeom>
              <a:avLst/>
              <a:gdLst>
                <a:gd name="connsiteX0" fmla="*/ 0 w 360000"/>
                <a:gd name="connsiteY0" fmla="*/ 0 h 360000"/>
                <a:gd name="connsiteX1" fmla="*/ 360000 w 360000"/>
                <a:gd name="connsiteY1" fmla="*/ 0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360000">
                  <a:moveTo>
                    <a:pt x="0" y="0"/>
                  </a:moveTo>
                  <a:lnTo>
                    <a:pt x="360000" y="0"/>
                  </a:lnTo>
                  <a:lnTo>
                    <a:pt x="360000" y="360000"/>
                  </a:lnTo>
                  <a:lnTo>
                    <a:pt x="0" y="360000"/>
                  </a:lnTo>
                  <a:close/>
                </a:path>
              </a:pathLst>
            </a:custGeom>
            <a:ln w="19050">
              <a:solidFill>
                <a:srgbClr val="FFC000"/>
              </a:solidFill>
            </a:ln>
          </p:spPr>
        </p:pic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781E96B6-13CB-39FF-FD22-74936660FBB0}"/>
                </a:ext>
              </a:extLst>
            </p:cNvPr>
            <p:cNvCxnSpPr>
              <a:cxnSpLocks/>
              <a:stCxn id="56" idx="3"/>
            </p:cNvCxnSpPr>
            <p:nvPr/>
          </p:nvCxnSpPr>
          <p:spPr>
            <a:xfrm>
              <a:off x="8370474" y="3925477"/>
              <a:ext cx="400239" cy="393377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EECB8C6-E58F-6E2D-1538-4414C66D6504}"/>
                </a:ext>
              </a:extLst>
            </p:cNvPr>
            <p:cNvSpPr/>
            <p:nvPr/>
          </p:nvSpPr>
          <p:spPr>
            <a:xfrm>
              <a:off x="2551561" y="4768421"/>
              <a:ext cx="2263521" cy="49996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800" dirty="0">
                  <a:solidFill>
                    <a:schemeClr val="bg1"/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rPr>
                <a:t>STG</a:t>
              </a:r>
              <a:endParaRPr lang="ko-KR" altLang="en-US" sz="2800" dirty="0">
                <a:solidFill>
                  <a:schemeClr val="bg1"/>
                </a:solidFill>
                <a:latin typeface="Arial" panose="020B0604020202020204" pitchFamily="34" charset="0"/>
                <a:ea typeface="Pretendard Medium" panose="0200060300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A30177BB-EB85-87B7-57FB-F46FE0D3D4F8}"/>
                </a:ext>
              </a:extLst>
            </p:cNvPr>
            <p:cNvSpPr/>
            <p:nvPr/>
          </p:nvSpPr>
          <p:spPr>
            <a:xfrm>
              <a:off x="5049790" y="4768421"/>
              <a:ext cx="2263521" cy="49996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800" dirty="0">
                  <a:solidFill>
                    <a:schemeClr val="bg1"/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rPr>
                <a:t>V</a:t>
              </a:r>
              <a:r>
                <a:rPr lang="en-US" altLang="ko-KR" sz="2800" baseline="30000" dirty="0">
                  <a:solidFill>
                    <a:schemeClr val="bg1"/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1A33A33-C03B-DD96-911F-04B873DC3DF9}"/>
                </a:ext>
              </a:extLst>
            </p:cNvPr>
            <p:cNvSpPr/>
            <p:nvPr/>
          </p:nvSpPr>
          <p:spPr>
            <a:xfrm>
              <a:off x="7438832" y="4768421"/>
              <a:ext cx="2263521" cy="499964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800" dirty="0">
                  <a:solidFill>
                    <a:schemeClr val="bg1"/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rPr>
                <a:t>Vega</a:t>
              </a:r>
              <a:endParaRPr lang="en-US" altLang="ko-KR" sz="2800" baseline="30000" dirty="0">
                <a:solidFill>
                  <a:schemeClr val="bg1"/>
                </a:solidFill>
                <a:latin typeface="Arial" panose="020B0604020202020204" pitchFamily="34" charset="0"/>
                <a:ea typeface="Pretendard Medium" panose="0200060300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658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6F404-D89A-8A8E-7E12-E71AA7E8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8CE6E173-7573-7A9D-D52B-70D06CD25BDD}"/>
              </a:ext>
            </a:extLst>
          </p:cNvPr>
          <p:cNvSpPr txBox="1"/>
          <p:nvPr/>
        </p:nvSpPr>
        <p:spPr>
          <a:xfrm>
            <a:off x="152400" y="240944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2025-mobicom-eos.png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67C7133-0081-63BF-053A-A6FDC2C72FE4}"/>
              </a:ext>
            </a:extLst>
          </p:cNvPr>
          <p:cNvGrpSpPr/>
          <p:nvPr/>
        </p:nvGrpSpPr>
        <p:grpSpPr>
          <a:xfrm>
            <a:off x="2349226" y="1321439"/>
            <a:ext cx="7493548" cy="4215121"/>
            <a:chOff x="2349226" y="1321439"/>
            <a:chExt cx="7493548" cy="421512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192EFDD-D9B2-A014-137C-16140F27C3DE}"/>
                </a:ext>
              </a:extLst>
            </p:cNvPr>
            <p:cNvSpPr/>
            <p:nvPr/>
          </p:nvSpPr>
          <p:spPr>
            <a:xfrm>
              <a:off x="2349226" y="1321439"/>
              <a:ext cx="7493548" cy="4215121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Picture 20">
              <a:extLst>
                <a:ext uri="{FF2B5EF4-FFF2-40B4-BE49-F238E27FC236}">
                  <a16:creationId xmlns:a16="http://schemas.microsoft.com/office/drawing/2014/main" id="{6262F205-BD0E-2E94-197E-0559ACED7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73991" y="3227073"/>
              <a:ext cx="3182741" cy="1712971"/>
            </a:xfrm>
            <a:prstGeom prst="rect">
              <a:avLst/>
            </a:prstGeom>
          </p:spPr>
        </p:pic>
        <p:pic>
          <p:nvPicPr>
            <p:cNvPr id="11" name="Picture 22">
              <a:extLst>
                <a:ext uri="{FF2B5EF4-FFF2-40B4-BE49-F238E27FC236}">
                  <a16:creationId xmlns:a16="http://schemas.microsoft.com/office/drawing/2014/main" id="{916CF37D-3FE3-F0F3-9BDE-690BFBEB1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76456" y="3216724"/>
              <a:ext cx="3244591" cy="1720460"/>
            </a:xfrm>
            <a:prstGeom prst="rect">
              <a:avLst/>
            </a:prstGeom>
          </p:spPr>
        </p:pic>
        <p:sp>
          <p:nvSpPr>
            <p:cNvPr id="13" name="Arrow: Down 25">
              <a:extLst>
                <a:ext uri="{FF2B5EF4-FFF2-40B4-BE49-F238E27FC236}">
                  <a16:creationId xmlns:a16="http://schemas.microsoft.com/office/drawing/2014/main" id="{46E6327C-1FAB-0F33-4534-1E6C30BCCBD9}"/>
                </a:ext>
              </a:extLst>
            </p:cNvPr>
            <p:cNvSpPr/>
            <p:nvPr/>
          </p:nvSpPr>
          <p:spPr>
            <a:xfrm>
              <a:off x="5667690" y="3960383"/>
              <a:ext cx="151996" cy="207743"/>
            </a:xfrm>
            <a:prstGeom prst="downArrow">
              <a:avLst/>
            </a:prstGeom>
            <a:solidFill>
              <a:srgbClr val="FFFFFF">
                <a:alpha val="60000"/>
              </a:srgb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Arrow: Down 26">
              <a:extLst>
                <a:ext uri="{FF2B5EF4-FFF2-40B4-BE49-F238E27FC236}">
                  <a16:creationId xmlns:a16="http://schemas.microsoft.com/office/drawing/2014/main" id="{03C8002E-604E-FCB9-A1A7-55E3BA0C504E}"/>
                </a:ext>
              </a:extLst>
            </p:cNvPr>
            <p:cNvSpPr/>
            <p:nvPr/>
          </p:nvSpPr>
          <p:spPr>
            <a:xfrm>
              <a:off x="9173359" y="3867084"/>
              <a:ext cx="137329" cy="137903"/>
            </a:xfrm>
            <a:prstGeom prst="downArrow">
              <a:avLst/>
            </a:prstGeom>
            <a:solidFill>
              <a:srgbClr val="FFFFFF">
                <a:alpha val="60000"/>
              </a:srgb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683F427-17EC-E072-C254-8794B00383DD}"/>
                </a:ext>
              </a:extLst>
            </p:cNvPr>
            <p:cNvSpPr txBox="1"/>
            <p:nvPr/>
          </p:nvSpPr>
          <p:spPr>
            <a:xfrm>
              <a:off x="3226346" y="4924484"/>
              <a:ext cx="2730386" cy="457200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50% </a:t>
              </a:r>
              <a:r>
                <a:rPr lang="ko-KR" altLang="ko-KR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↓</a:t>
              </a:r>
              <a:r>
                <a:rPr lang="en-US" altLang="ko-KR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(Power)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5B95077-E5EC-101E-B51E-1B191F76FF7A}"/>
                </a:ext>
              </a:extLst>
            </p:cNvPr>
            <p:cNvSpPr txBox="1"/>
            <p:nvPr/>
          </p:nvSpPr>
          <p:spPr>
            <a:xfrm>
              <a:off x="6863079" y="4924484"/>
              <a:ext cx="2657967" cy="457200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25°C </a:t>
              </a:r>
              <a:r>
                <a:rPr lang="ko-KR" altLang="ko-KR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↓</a:t>
              </a:r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(GPU)</a:t>
              </a:r>
            </a:p>
          </p:txBody>
        </p:sp>
        <p:pic>
          <p:nvPicPr>
            <p:cNvPr id="26" name="Picture 18">
              <a:extLst>
                <a:ext uri="{FF2B5EF4-FFF2-40B4-BE49-F238E27FC236}">
                  <a16:creationId xmlns:a16="http://schemas.microsoft.com/office/drawing/2014/main" id="{E9697A7A-785F-781F-7C32-819075BC5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22557" y="1424106"/>
              <a:ext cx="3334175" cy="171297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CEBD00-E281-C1BD-A43F-23549E61BAC6}"/>
                </a:ext>
              </a:extLst>
            </p:cNvPr>
            <p:cNvSpPr txBox="1"/>
            <p:nvPr/>
          </p:nvSpPr>
          <p:spPr>
            <a:xfrm>
              <a:off x="6790660" y="1843702"/>
              <a:ext cx="2730386" cy="738664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Similar VMAF</a:t>
              </a:r>
            </a:p>
            <a:p>
              <a:pPr algn="ctr"/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(Video Quality)</a:t>
              </a:r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EE3E5E71-C467-8707-6E88-7C9E84FF0CDC}"/>
                </a:ext>
              </a:extLst>
            </p:cNvPr>
            <p:cNvSpPr/>
            <p:nvPr/>
          </p:nvSpPr>
          <p:spPr>
            <a:xfrm>
              <a:off x="5921374" y="2052696"/>
              <a:ext cx="869285" cy="320675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5114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2935A2-390D-C2C5-B302-B15FF2CBBC70}"/>
              </a:ext>
            </a:extLst>
          </p:cNvPr>
          <p:cNvSpPr/>
          <p:nvPr/>
        </p:nvSpPr>
        <p:spPr>
          <a:xfrm>
            <a:off x="2349226" y="1321439"/>
            <a:ext cx="7493548" cy="4215121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6791764-59EC-77F4-711A-7BFAC2FB5FE8}"/>
              </a:ext>
            </a:extLst>
          </p:cNvPr>
          <p:cNvGrpSpPr/>
          <p:nvPr/>
        </p:nvGrpSpPr>
        <p:grpSpPr>
          <a:xfrm>
            <a:off x="2597181" y="1712867"/>
            <a:ext cx="6997638" cy="3432263"/>
            <a:chOff x="2621120" y="1905695"/>
            <a:chExt cx="6997638" cy="3432263"/>
          </a:xfrm>
        </p:grpSpPr>
        <p:pic>
          <p:nvPicPr>
            <p:cNvPr id="4" name="그림 3" descr="야외, 의류, 신발류, 사람이(가) 표시된 사진&#10;&#10;자동 생성된 설명">
              <a:extLst>
                <a:ext uri="{FF2B5EF4-FFF2-40B4-BE49-F238E27FC236}">
                  <a16:creationId xmlns:a16="http://schemas.microsoft.com/office/drawing/2014/main" id="{50390B67-13C8-E0C6-195A-F3DDE9D4D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5013" y="1905696"/>
              <a:ext cx="2254678" cy="1373445"/>
            </a:xfrm>
            <a:prstGeom prst="rect">
              <a:avLst/>
            </a:prstGeom>
          </p:spPr>
        </p:pic>
        <p:pic>
          <p:nvPicPr>
            <p:cNvPr id="5" name="그림 4" descr="다채로움, 스크린샷, 블루, 보라색이(가) 표시된 사진&#10;&#10;자동 생성된 설명">
              <a:extLst>
                <a:ext uri="{FF2B5EF4-FFF2-40B4-BE49-F238E27FC236}">
                  <a16:creationId xmlns:a16="http://schemas.microsoft.com/office/drawing/2014/main" id="{454D5EF7-F52C-3C89-4EF7-E9AC32D51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8761" y="1905696"/>
              <a:ext cx="2254678" cy="1373445"/>
            </a:xfrm>
            <a:prstGeom prst="rect">
              <a:avLst/>
            </a:prstGeom>
          </p:spPr>
        </p:pic>
        <p:pic>
          <p:nvPicPr>
            <p:cNvPr id="7" name="그림 6" descr="음악, 빛이(가) 표시된 사진&#10;&#10;중간 신뢰도로 자동 생성된 설명">
              <a:extLst>
                <a:ext uri="{FF2B5EF4-FFF2-40B4-BE49-F238E27FC236}">
                  <a16:creationId xmlns:a16="http://schemas.microsoft.com/office/drawing/2014/main" id="{F825D1A8-FC58-5B69-0807-A897A3F40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8715" y="1905695"/>
              <a:ext cx="2255073" cy="137344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E2ACEBC-7719-CC4A-2397-883C4F01C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89918" y="3391383"/>
              <a:ext cx="2263540" cy="137344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36C6171-4DC1-C9BE-324A-3A10935ED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55218" y="3391384"/>
              <a:ext cx="2263540" cy="1373445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20656D5-85CC-C0A1-FB81-A288DDFF22AA}"/>
                </a:ext>
              </a:extLst>
            </p:cNvPr>
            <p:cNvSpPr/>
            <p:nvPr/>
          </p:nvSpPr>
          <p:spPr>
            <a:xfrm>
              <a:off x="4989918" y="4837994"/>
              <a:ext cx="2263521" cy="49996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800" dirty="0" err="1">
                  <a:solidFill>
                    <a:schemeClr val="bg1"/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rPr>
                <a:t>MobiSR</a:t>
              </a:r>
              <a:r>
                <a:rPr lang="en-US" altLang="ko-KR" sz="2800" dirty="0">
                  <a:solidFill>
                    <a:schemeClr val="bg1"/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rPr>
                <a:t>-Like</a:t>
              </a:r>
              <a:endParaRPr lang="ko-KR" altLang="en-US" sz="2800" dirty="0">
                <a:solidFill>
                  <a:schemeClr val="bg1"/>
                </a:solidFill>
                <a:latin typeface="Arial" panose="020B0604020202020204" pitchFamily="34" charset="0"/>
                <a:ea typeface="Pretendard Medium" panose="0200060300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4A9EA38-6DDE-9E9B-3FAD-70BBE6789980}"/>
                </a:ext>
              </a:extLst>
            </p:cNvPr>
            <p:cNvSpPr/>
            <p:nvPr/>
          </p:nvSpPr>
          <p:spPr>
            <a:xfrm>
              <a:off x="7355218" y="4837994"/>
              <a:ext cx="2258570" cy="499964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800" dirty="0">
                  <a:solidFill>
                    <a:schemeClr val="bg1"/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rPr>
                <a:t>ARIA</a:t>
              </a:r>
              <a:endParaRPr lang="ko-KR" altLang="en-US" sz="2800" dirty="0">
                <a:solidFill>
                  <a:schemeClr val="bg1"/>
                </a:solidFill>
                <a:latin typeface="Arial" panose="020B0604020202020204" pitchFamily="34" charset="0"/>
                <a:ea typeface="Pretendard Medium" panose="0200060300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9AFB479-0713-562C-2ECB-FECA12C7ED6E}"/>
                </a:ext>
              </a:extLst>
            </p:cNvPr>
            <p:cNvSpPr/>
            <p:nvPr/>
          </p:nvSpPr>
          <p:spPr>
            <a:xfrm>
              <a:off x="2621120" y="4837994"/>
              <a:ext cx="2263539" cy="49996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800" dirty="0">
                  <a:solidFill>
                    <a:schemeClr val="accent4">
                      <a:lumMod val="10000"/>
                    </a:schemeClr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rPr>
                <a:t>Input Image</a:t>
              </a:r>
              <a:endParaRPr lang="ko-KR" altLang="en-US" sz="2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ea typeface="Pretendard Medium" panose="0200060300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93F7AF0-3593-9CD0-5934-9DC216D5B726}"/>
                </a:ext>
              </a:extLst>
            </p:cNvPr>
            <p:cNvGrpSpPr/>
            <p:nvPr/>
          </p:nvGrpSpPr>
          <p:grpSpPr>
            <a:xfrm>
              <a:off x="2621121" y="3391383"/>
              <a:ext cx="2263540" cy="1373445"/>
              <a:chOff x="256749" y="3246033"/>
              <a:chExt cx="2253600" cy="1373445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6D179EB2-3B96-CA71-ABA8-08EA0E5E9A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6749" y="3246033"/>
                <a:ext cx="2253600" cy="1373445"/>
              </a:xfrm>
              <a:prstGeom prst="rect">
                <a:avLst/>
              </a:prstGeom>
            </p:spPr>
          </p:pic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1407D71-A930-E4D7-6FBD-7EA88D855303}"/>
                  </a:ext>
                </a:extLst>
              </p:cNvPr>
              <p:cNvSpPr/>
              <p:nvPr/>
            </p:nvSpPr>
            <p:spPr>
              <a:xfrm rot="196937">
                <a:off x="1850529" y="3662685"/>
                <a:ext cx="214784" cy="160595"/>
              </a:xfrm>
              <a:prstGeom prst="rect">
                <a:avLst/>
              </a:prstGeom>
              <a:solidFill>
                <a:srgbClr val="9199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:endParaRPr lang="ko-KR" altLang="en-US" sz="1600" dirty="0">
                  <a:solidFill>
                    <a:srgbClr val="000000"/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72063AB-F535-FE5D-CD0D-665CA9C5EDFA}"/>
              </a:ext>
            </a:extLst>
          </p:cNvPr>
          <p:cNvSpPr txBox="1"/>
          <p:nvPr/>
        </p:nvSpPr>
        <p:spPr>
          <a:xfrm>
            <a:off x="152400" y="240944"/>
            <a:ext cx="3520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2025-mobisys-aria.png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5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0B00-2868-9F08-C55D-FB3C8B9B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F6370D-7092-AFE1-7EB0-DF9F02260FE4}"/>
              </a:ext>
            </a:extLst>
          </p:cNvPr>
          <p:cNvSpPr/>
          <p:nvPr/>
        </p:nvSpPr>
        <p:spPr>
          <a:xfrm>
            <a:off x="2349226" y="1321439"/>
            <a:ext cx="7493548" cy="4215121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A5D6A8-8D1C-8AD4-3AD7-0A3793A16D4F}"/>
              </a:ext>
            </a:extLst>
          </p:cNvPr>
          <p:cNvSpPr txBox="1"/>
          <p:nvPr/>
        </p:nvSpPr>
        <p:spPr>
          <a:xfrm>
            <a:off x="152400" y="240944"/>
            <a:ext cx="3058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2025-tecs-dash.png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714A42BE-4888-BF8A-2510-443E898A27D0}"/>
              </a:ext>
            </a:extLst>
          </p:cNvPr>
          <p:cNvGrpSpPr/>
          <p:nvPr/>
        </p:nvGrpSpPr>
        <p:grpSpPr>
          <a:xfrm>
            <a:off x="2752068" y="1558902"/>
            <a:ext cx="6687864" cy="3740195"/>
            <a:chOff x="2849437" y="1591190"/>
            <a:chExt cx="6687864" cy="374019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02E1C07-4C28-B510-A6FF-D6A9CC282D0D}"/>
                </a:ext>
              </a:extLst>
            </p:cNvPr>
            <p:cNvSpPr/>
            <p:nvPr/>
          </p:nvSpPr>
          <p:spPr>
            <a:xfrm>
              <a:off x="4420653" y="4369987"/>
              <a:ext cx="3121511" cy="43814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8B61A5F-0984-BA05-01EB-5D6B92F12D98}"/>
                </a:ext>
              </a:extLst>
            </p:cNvPr>
            <p:cNvSpPr txBox="1"/>
            <p:nvPr/>
          </p:nvSpPr>
          <p:spPr>
            <a:xfrm>
              <a:off x="2939661" y="4147445"/>
              <a:ext cx="1204176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Device</a:t>
              </a:r>
              <a:b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State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734311-5F9D-9567-BD1F-01558CD84C37}"/>
                </a:ext>
              </a:extLst>
            </p:cNvPr>
            <p:cNvSpPr/>
            <p:nvPr/>
          </p:nvSpPr>
          <p:spPr>
            <a:xfrm>
              <a:off x="4420654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F43FBBF-AD13-DB5D-9B42-5024ED3A2EEF}"/>
                </a:ext>
              </a:extLst>
            </p:cNvPr>
            <p:cNvSpPr/>
            <p:nvPr/>
          </p:nvSpPr>
          <p:spPr>
            <a:xfrm>
              <a:off x="4722225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59C70C-A06E-01B6-59ED-AB219B851894}"/>
                </a:ext>
              </a:extLst>
            </p:cNvPr>
            <p:cNvSpPr txBox="1"/>
            <p:nvPr/>
          </p:nvSpPr>
          <p:spPr>
            <a:xfrm>
              <a:off x="2849437" y="2959273"/>
              <a:ext cx="1391727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Event</a:t>
              </a:r>
              <a:b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Sensing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3A088D-AD88-51D3-B33A-A80D11A25003}"/>
                </a:ext>
              </a:extLst>
            </p:cNvPr>
            <p:cNvSpPr txBox="1"/>
            <p:nvPr/>
          </p:nvSpPr>
          <p:spPr>
            <a:xfrm>
              <a:off x="2983451" y="1835562"/>
              <a:ext cx="1112804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Actual</a:t>
              </a:r>
              <a:b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Event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FA46960-BA10-2CF0-0551-737943C49692}"/>
                </a:ext>
              </a:extLst>
            </p:cNvPr>
            <p:cNvSpPr/>
            <p:nvPr/>
          </p:nvSpPr>
          <p:spPr>
            <a:xfrm>
              <a:off x="4420654" y="3186477"/>
              <a:ext cx="152400" cy="4381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0A1CA85-A5B0-A097-A86B-7A416B007C57}"/>
                </a:ext>
              </a:extLst>
            </p:cNvPr>
            <p:cNvSpPr/>
            <p:nvPr/>
          </p:nvSpPr>
          <p:spPr>
            <a:xfrm>
              <a:off x="5712206" y="3186477"/>
              <a:ext cx="75600" cy="4381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BBD3720-EAEC-BB94-17B2-BBF09848723B}"/>
                </a:ext>
              </a:extLst>
            </p:cNvPr>
            <p:cNvSpPr/>
            <p:nvPr/>
          </p:nvSpPr>
          <p:spPr>
            <a:xfrm>
              <a:off x="5331665" y="3186477"/>
              <a:ext cx="152400" cy="43814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9FB270E-E1FE-7139-AA9B-25D6AF0E1041}"/>
                </a:ext>
              </a:extLst>
            </p:cNvPr>
            <p:cNvSpPr/>
            <p:nvPr/>
          </p:nvSpPr>
          <p:spPr>
            <a:xfrm>
              <a:off x="6557824" y="3186477"/>
              <a:ext cx="152400" cy="43814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8F113C4-6DB8-F2AB-5BC0-690DD8A78D26}"/>
                </a:ext>
              </a:extLst>
            </p:cNvPr>
            <p:cNvSpPr/>
            <p:nvPr/>
          </p:nvSpPr>
          <p:spPr>
            <a:xfrm>
              <a:off x="7160938" y="3186477"/>
              <a:ext cx="152400" cy="43814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B300955-FF82-FD61-9B67-33AF6B87C5E7}"/>
                </a:ext>
              </a:extLst>
            </p:cNvPr>
            <p:cNvSpPr/>
            <p:nvPr/>
          </p:nvSpPr>
          <p:spPr>
            <a:xfrm>
              <a:off x="7468834" y="3186477"/>
              <a:ext cx="152400" cy="43814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E32FF68-B63E-0298-8666-0AAF1E6C3717}"/>
                </a:ext>
              </a:extLst>
            </p:cNvPr>
            <p:cNvSpPr/>
            <p:nvPr/>
          </p:nvSpPr>
          <p:spPr>
            <a:xfrm>
              <a:off x="8442588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78CB9A8-AF4F-F6E1-FCA5-7D16B8B3A039}"/>
                </a:ext>
              </a:extLst>
            </p:cNvPr>
            <p:cNvSpPr/>
            <p:nvPr/>
          </p:nvSpPr>
          <p:spPr>
            <a:xfrm>
              <a:off x="8442588" y="3186477"/>
              <a:ext cx="152400" cy="4381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C1977D1-EB40-FDDA-D778-DA0E16EA9D5D}"/>
                </a:ext>
              </a:extLst>
            </p:cNvPr>
            <p:cNvSpPr/>
            <p:nvPr/>
          </p:nvSpPr>
          <p:spPr>
            <a:xfrm>
              <a:off x="4389698" y="2235900"/>
              <a:ext cx="1208881" cy="243110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838FE9F3-0277-DE31-C3DE-D34B1EC55B18}"/>
                </a:ext>
              </a:extLst>
            </p:cNvPr>
            <p:cNvCxnSpPr>
              <a:cxnSpLocks/>
            </p:cNvCxnSpPr>
            <p:nvPr/>
          </p:nvCxnSpPr>
          <p:spPr>
            <a:xfrm>
              <a:off x="4389698" y="2489328"/>
              <a:ext cx="5029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41E472B-A12F-0141-47FC-A8A027410A02}"/>
                </a:ext>
              </a:extLst>
            </p:cNvPr>
            <p:cNvSpPr/>
            <p:nvPr/>
          </p:nvSpPr>
          <p:spPr>
            <a:xfrm>
              <a:off x="5598579" y="2235900"/>
              <a:ext cx="1767342" cy="243110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03B2703-C9C5-77E9-1AA0-A377B0B56D41}"/>
                </a:ext>
              </a:extLst>
            </p:cNvPr>
            <p:cNvSpPr/>
            <p:nvPr/>
          </p:nvSpPr>
          <p:spPr>
            <a:xfrm>
              <a:off x="8442588" y="2235900"/>
              <a:ext cx="153984" cy="24311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4" name="그래픽 33" descr="누수 수도꼭지 단색으로 채워진">
              <a:extLst>
                <a:ext uri="{FF2B5EF4-FFF2-40B4-BE49-F238E27FC236}">
                  <a16:creationId xmlns:a16="http://schemas.microsoft.com/office/drawing/2014/main" id="{78C77442-8E79-2D5F-5664-5DA60A18E4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388110" y="1957200"/>
              <a:ext cx="305122" cy="305122"/>
            </a:xfrm>
            <a:prstGeom prst="rect">
              <a:avLst/>
            </a:prstGeom>
          </p:spPr>
        </p:pic>
        <p:pic>
          <p:nvPicPr>
            <p:cNvPr id="35" name="그래픽 34" descr="음악 단색으로 채워진">
              <a:extLst>
                <a:ext uri="{FF2B5EF4-FFF2-40B4-BE49-F238E27FC236}">
                  <a16:creationId xmlns:a16="http://schemas.microsoft.com/office/drawing/2014/main" id="{7F843DEB-B0AA-55B2-6963-447F626433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02560" y="1963001"/>
              <a:ext cx="287080" cy="287080"/>
            </a:xfrm>
            <a:prstGeom prst="rect">
              <a:avLst/>
            </a:prstGeom>
          </p:spPr>
        </p:pic>
        <p:pic>
          <p:nvPicPr>
            <p:cNvPr id="36" name="그래픽 35" descr="손뼉 치는 손 단색으로 채워진">
              <a:extLst>
                <a:ext uri="{FF2B5EF4-FFF2-40B4-BE49-F238E27FC236}">
                  <a16:creationId xmlns:a16="http://schemas.microsoft.com/office/drawing/2014/main" id="{8C6E3183-3A58-383B-7F40-EFE5F9D6B5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75248" y="1944958"/>
              <a:ext cx="287080" cy="287080"/>
            </a:xfrm>
            <a:prstGeom prst="rect">
              <a:avLst/>
            </a:prstGeom>
          </p:spPr>
        </p:pic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7AE8BDB-D6A1-3D2B-1464-F76D9FBC7888}"/>
                </a:ext>
              </a:extLst>
            </p:cNvPr>
            <p:cNvSpPr/>
            <p:nvPr/>
          </p:nvSpPr>
          <p:spPr>
            <a:xfrm>
              <a:off x="5638719" y="3186477"/>
              <a:ext cx="75600" cy="43814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7D72244-218C-67B7-E751-62EC4BBED96E}"/>
                </a:ext>
              </a:extLst>
            </p:cNvPr>
            <p:cNvSpPr txBox="1"/>
            <p:nvPr/>
          </p:nvSpPr>
          <p:spPr>
            <a:xfrm>
              <a:off x="4391307" y="2688446"/>
              <a:ext cx="1393010" cy="400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2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Inference</a:t>
              </a: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3DA3E7F3-0B0A-7161-BA12-47725B464A54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4496854" y="3031199"/>
              <a:ext cx="0" cy="155278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A8E8D1F-26D0-FDDA-5FB6-6B2C9F42170C}"/>
                </a:ext>
              </a:extLst>
            </p:cNvPr>
            <p:cNvSpPr txBox="1"/>
            <p:nvPr/>
          </p:nvSpPr>
          <p:spPr>
            <a:xfrm>
              <a:off x="4387047" y="3736434"/>
              <a:ext cx="2443361" cy="400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26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Affinity matching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8CDA23BB-CA49-E9D7-358F-754B2B71176A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V="1">
              <a:off x="5407865" y="3624622"/>
              <a:ext cx="0" cy="18288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132C967-AF41-9C0A-CC0B-30EEDC5452FC}"/>
                </a:ext>
              </a:extLst>
            </p:cNvPr>
            <p:cNvSpPr txBox="1"/>
            <p:nvPr/>
          </p:nvSpPr>
          <p:spPr>
            <a:xfrm>
              <a:off x="6994795" y="2682420"/>
              <a:ext cx="1429879" cy="400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2600" dirty="0">
                  <a:solidFill>
                    <a:srgbClr val="196B2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sound</a:t>
              </a:r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0D097E8E-DD68-653A-9B50-FCA3E5BEA7BD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7545034" y="3042569"/>
              <a:ext cx="0" cy="143908"/>
            </a:xfrm>
            <a:prstGeom prst="straightConnector1">
              <a:avLst/>
            </a:prstGeom>
            <a:ln>
              <a:solidFill>
                <a:srgbClr val="196B2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105E026-F121-456D-B289-DE7106789E08}"/>
                </a:ext>
              </a:extLst>
            </p:cNvPr>
            <p:cNvSpPr txBox="1"/>
            <p:nvPr/>
          </p:nvSpPr>
          <p:spPr>
            <a:xfrm>
              <a:off x="4372416" y="4931275"/>
              <a:ext cx="908903" cy="400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Active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6B1DD0D-71F6-8D22-75F2-875587BBBE83}"/>
                </a:ext>
              </a:extLst>
            </p:cNvPr>
            <p:cNvSpPr txBox="1"/>
            <p:nvPr/>
          </p:nvSpPr>
          <p:spPr>
            <a:xfrm>
              <a:off x="5458313" y="4931275"/>
              <a:ext cx="854400" cy="400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Sleep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DE204DC-ABC7-A714-C799-499E626833F4}"/>
                </a:ext>
              </a:extLst>
            </p:cNvPr>
            <p:cNvSpPr txBox="1"/>
            <p:nvPr/>
          </p:nvSpPr>
          <p:spPr>
            <a:xfrm>
              <a:off x="7729967" y="4931275"/>
              <a:ext cx="538609" cy="40011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Idle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A4C93C4-732A-F79F-4732-2D699215E47A}"/>
                </a:ext>
              </a:extLst>
            </p:cNvPr>
            <p:cNvSpPr txBox="1"/>
            <p:nvPr/>
          </p:nvSpPr>
          <p:spPr>
            <a:xfrm>
              <a:off x="6999851" y="1591190"/>
              <a:ext cx="2537450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One-time event</a:t>
              </a: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FFAC9ADE-5C8B-FA71-2FDE-5999CB4D8642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4496854" y="4808132"/>
              <a:ext cx="0" cy="1697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238FD413-FDED-DFBA-74B5-8D7EA58CA4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3465" y="4808132"/>
              <a:ext cx="0" cy="1697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4232A25E-1DB0-75E7-2D9C-6647CCE6C0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3555" y="4808132"/>
              <a:ext cx="0" cy="1697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763667E-9629-A1A0-A216-73E416BE5F21}"/>
                </a:ext>
              </a:extLst>
            </p:cNvPr>
            <p:cNvCxnSpPr>
              <a:cxnSpLocks/>
            </p:cNvCxnSpPr>
            <p:nvPr/>
          </p:nvCxnSpPr>
          <p:spPr>
            <a:xfrm>
              <a:off x="8313584" y="1957200"/>
              <a:ext cx="92229" cy="1049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617DA72-FB5A-6529-A1D7-F8723A6BACEB}"/>
                </a:ext>
              </a:extLst>
            </p:cNvPr>
            <p:cNvSpPr/>
            <p:nvPr/>
          </p:nvSpPr>
          <p:spPr>
            <a:xfrm>
              <a:off x="5027965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43B9C41-8965-809C-4403-F5DB14B2AD72}"/>
                </a:ext>
              </a:extLst>
            </p:cNvPr>
            <p:cNvSpPr/>
            <p:nvPr/>
          </p:nvSpPr>
          <p:spPr>
            <a:xfrm>
              <a:off x="5333870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52B04B7-689C-FBD4-FADC-65CBBB7C92BC}"/>
                </a:ext>
              </a:extLst>
            </p:cNvPr>
            <p:cNvSpPr/>
            <p:nvPr/>
          </p:nvSpPr>
          <p:spPr>
            <a:xfrm>
              <a:off x="5636006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E9E5975-04E8-AC26-99B0-56CA976EDEA5}"/>
                </a:ext>
              </a:extLst>
            </p:cNvPr>
            <p:cNvSpPr/>
            <p:nvPr/>
          </p:nvSpPr>
          <p:spPr>
            <a:xfrm>
              <a:off x="5941746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0F25AAC-8AD5-D5E3-D60E-220C68FD7657}"/>
                </a:ext>
              </a:extLst>
            </p:cNvPr>
            <p:cNvSpPr/>
            <p:nvPr/>
          </p:nvSpPr>
          <p:spPr>
            <a:xfrm>
              <a:off x="6247651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2E19CC6-4690-B2E8-8599-C947B9215EA7}"/>
                </a:ext>
              </a:extLst>
            </p:cNvPr>
            <p:cNvSpPr/>
            <p:nvPr/>
          </p:nvSpPr>
          <p:spPr>
            <a:xfrm>
              <a:off x="6557824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96F5F6D-C9E2-E6C1-FBDB-555BEE64CEE9}"/>
                </a:ext>
              </a:extLst>
            </p:cNvPr>
            <p:cNvSpPr/>
            <p:nvPr/>
          </p:nvSpPr>
          <p:spPr>
            <a:xfrm>
              <a:off x="6863564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471E65F2-469C-F57C-BBDB-65ACE5518346}"/>
                </a:ext>
              </a:extLst>
            </p:cNvPr>
            <p:cNvSpPr/>
            <p:nvPr/>
          </p:nvSpPr>
          <p:spPr>
            <a:xfrm>
              <a:off x="7169469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D7375C8E-6A6C-E52D-9A21-87D50055CE9F}"/>
                </a:ext>
              </a:extLst>
            </p:cNvPr>
            <p:cNvSpPr/>
            <p:nvPr/>
          </p:nvSpPr>
          <p:spPr>
            <a:xfrm>
              <a:off x="7471842" y="4369987"/>
              <a:ext cx="152400" cy="43814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47769DAB-C765-FCF0-6762-1E1231DE91C7}"/>
                </a:ext>
              </a:extLst>
            </p:cNvPr>
            <p:cNvCxnSpPr>
              <a:cxnSpLocks/>
            </p:cNvCxnSpPr>
            <p:nvPr/>
          </p:nvCxnSpPr>
          <p:spPr>
            <a:xfrm>
              <a:off x="4389698" y="4811994"/>
              <a:ext cx="5029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89AADEA2-E4B6-5E0F-7538-E0A13DD3FC7B}"/>
                </a:ext>
              </a:extLst>
            </p:cNvPr>
            <p:cNvCxnSpPr>
              <a:cxnSpLocks/>
            </p:cNvCxnSpPr>
            <p:nvPr/>
          </p:nvCxnSpPr>
          <p:spPr>
            <a:xfrm>
              <a:off x="4389698" y="3628484"/>
              <a:ext cx="5029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629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07BDA-D8C4-C2DB-3C44-723AA886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823254CF-2F2A-6C8D-FEDE-BB056A1B524D}"/>
              </a:ext>
            </a:extLst>
          </p:cNvPr>
          <p:cNvSpPr/>
          <p:nvPr/>
        </p:nvSpPr>
        <p:spPr>
          <a:xfrm>
            <a:off x="2349226" y="1321439"/>
            <a:ext cx="7493548" cy="4215121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61B022-209B-9A90-581D-F907C9E77772}"/>
              </a:ext>
            </a:extLst>
          </p:cNvPr>
          <p:cNvSpPr txBox="1"/>
          <p:nvPr/>
        </p:nvSpPr>
        <p:spPr>
          <a:xfrm>
            <a:off x="152400" y="240944"/>
            <a:ext cx="4219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2023-mobisys-omnilive.png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6060F90E-CB91-6B10-795C-168577A3DD33}"/>
              </a:ext>
            </a:extLst>
          </p:cNvPr>
          <p:cNvCxnSpPr>
            <a:cxnSpLocks/>
          </p:cNvCxnSpPr>
          <p:nvPr/>
        </p:nvCxnSpPr>
        <p:spPr>
          <a:xfrm flipH="1">
            <a:off x="9424988" y="7310449"/>
            <a:ext cx="641253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5C761F07-C2A8-7202-451A-DBAE2F0AB13E}"/>
              </a:ext>
            </a:extLst>
          </p:cNvPr>
          <p:cNvGrpSpPr/>
          <p:nvPr/>
        </p:nvGrpSpPr>
        <p:grpSpPr>
          <a:xfrm>
            <a:off x="2587832" y="1708419"/>
            <a:ext cx="7047675" cy="3516491"/>
            <a:chOff x="2587832" y="1708419"/>
            <a:chExt cx="7047675" cy="3516491"/>
          </a:xfrm>
        </p:grpSpPr>
        <p:pic>
          <p:nvPicPr>
            <p:cNvPr id="4" name="그림 3" descr="야외, 나무, 의류, 사람이(가) 표시된 사진&#10;&#10;자동 생성된 설명">
              <a:extLst>
                <a:ext uri="{FF2B5EF4-FFF2-40B4-BE49-F238E27FC236}">
                  <a16:creationId xmlns:a16="http://schemas.microsoft.com/office/drawing/2014/main" id="{A68C0AA0-BDEA-656E-736E-C19BA230A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7832" y="1717453"/>
              <a:ext cx="2438400" cy="1371600"/>
            </a:xfrm>
            <a:prstGeom prst="rect">
              <a:avLst/>
            </a:prstGeom>
          </p:spPr>
        </p:pic>
        <p:pic>
          <p:nvPicPr>
            <p:cNvPr id="5" name="그림 4" descr="야외, 나무, 의류, 사람이(가) 표시된 사진&#10;&#10;자동 생성된 설명">
              <a:extLst>
                <a:ext uri="{FF2B5EF4-FFF2-40B4-BE49-F238E27FC236}">
                  <a16:creationId xmlns:a16="http://schemas.microsoft.com/office/drawing/2014/main" id="{E0A163F2-1981-591C-36C8-22DFECD22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5303" y="1717453"/>
              <a:ext cx="2438400" cy="13716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578B6EB-920C-FC8F-2699-C6A3E315E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87832" y="3269358"/>
              <a:ext cx="2438400" cy="137160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ABA05F37-2A11-1BED-15A4-2DC6E6F75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15303" y="3242708"/>
              <a:ext cx="2438400" cy="1371600"/>
            </a:xfrm>
            <a:prstGeom prst="rect">
              <a:avLst/>
            </a:prstGeom>
          </p:spPr>
        </p:pic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E25111A7-E46A-F2F9-F316-9D4853CA39AB}"/>
                </a:ext>
              </a:extLst>
            </p:cNvPr>
            <p:cNvSpPr/>
            <p:nvPr/>
          </p:nvSpPr>
          <p:spPr>
            <a:xfrm>
              <a:off x="3750459" y="2205557"/>
              <a:ext cx="457200" cy="457200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74AE39B2-A5CD-2532-7C30-C18587E9A2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97" t="46743" r="31627" b="33359"/>
            <a:stretch/>
          </p:blipFill>
          <p:spPr>
            <a:xfrm>
              <a:off x="4517711" y="3242708"/>
              <a:ext cx="1443051" cy="1371600"/>
            </a:xfrm>
            <a:prstGeom prst="rect">
              <a:avLst/>
            </a:prstGeom>
            <a:ln w="57150">
              <a:solidFill>
                <a:srgbClr val="0070C0"/>
              </a:solidFill>
            </a:ln>
          </p:spPr>
        </p:pic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7C6EECF5-7F46-03CD-BAB5-E9B7FC7D9E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50" t="46611" r="31692" b="33308"/>
            <a:stretch/>
          </p:blipFill>
          <p:spPr>
            <a:xfrm>
              <a:off x="8167526" y="3251742"/>
              <a:ext cx="1403408" cy="1371600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</p:pic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7EEC6983-777A-9D77-72CF-CF3BD9F6E33E}"/>
                </a:ext>
              </a:extLst>
            </p:cNvPr>
            <p:cNvSpPr/>
            <p:nvPr/>
          </p:nvSpPr>
          <p:spPr>
            <a:xfrm>
              <a:off x="7414873" y="2205557"/>
              <a:ext cx="457200" cy="457200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그림 6" descr="야외, 나무, 의류, 사람이(가) 표시된 사진&#10;&#10;자동 생성된 설명">
              <a:extLst>
                <a:ext uri="{FF2B5EF4-FFF2-40B4-BE49-F238E27FC236}">
                  <a16:creationId xmlns:a16="http://schemas.microsoft.com/office/drawing/2014/main" id="{1EA1F42E-9B18-70C6-0427-FC238D0130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963" t="43750" r="31742" b="23297"/>
            <a:stretch/>
          </p:blipFill>
          <p:spPr>
            <a:xfrm>
              <a:off x="4517711" y="1708419"/>
              <a:ext cx="1427789" cy="1371600"/>
            </a:xfrm>
            <a:prstGeom prst="rect">
              <a:avLst/>
            </a:prstGeom>
            <a:ln w="57150">
              <a:solidFill>
                <a:srgbClr val="0070C0"/>
              </a:solidFill>
            </a:ln>
          </p:spPr>
        </p:pic>
        <p:pic>
          <p:nvPicPr>
            <p:cNvPr id="9" name="그림 8" descr="야외, 나무, 의류, 사람이(가) 표시된 사진&#10;&#10;자동 생성된 설명">
              <a:extLst>
                <a:ext uri="{FF2B5EF4-FFF2-40B4-BE49-F238E27FC236}">
                  <a16:creationId xmlns:a16="http://schemas.microsoft.com/office/drawing/2014/main" id="{B13FFBB4-B336-E290-9103-B1848623DC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283" t="43750" r="32421" b="23296"/>
            <a:stretch/>
          </p:blipFill>
          <p:spPr>
            <a:xfrm>
              <a:off x="8143145" y="1708419"/>
              <a:ext cx="1427789" cy="1371600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</p:pic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3D65E73C-AC77-8817-12A2-6DD23531944E}"/>
                </a:ext>
              </a:extLst>
            </p:cNvPr>
            <p:cNvSpPr/>
            <p:nvPr/>
          </p:nvSpPr>
          <p:spPr>
            <a:xfrm>
              <a:off x="3865783" y="3814227"/>
              <a:ext cx="457200" cy="457200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CF18190-43A4-6A27-8F30-41792E984D8D}"/>
                </a:ext>
              </a:extLst>
            </p:cNvPr>
            <p:cNvSpPr/>
            <p:nvPr/>
          </p:nvSpPr>
          <p:spPr>
            <a:xfrm>
              <a:off x="7502872" y="3814227"/>
              <a:ext cx="457200" cy="457200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0DCABC93-2D07-5A90-154A-6C7E3ACB28E2}"/>
                </a:ext>
              </a:extLst>
            </p:cNvPr>
            <p:cNvCxnSpPr>
              <a:cxnSpLocks/>
            </p:cNvCxnSpPr>
            <p:nvPr/>
          </p:nvCxnSpPr>
          <p:spPr>
            <a:xfrm>
              <a:off x="4348950" y="4097857"/>
              <a:ext cx="482130" cy="0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DAC21439-BCD8-BDA6-16AF-447D1E517D8E}"/>
                </a:ext>
              </a:extLst>
            </p:cNvPr>
            <p:cNvCxnSpPr>
              <a:cxnSpLocks/>
            </p:cNvCxnSpPr>
            <p:nvPr/>
          </p:nvCxnSpPr>
          <p:spPr>
            <a:xfrm>
              <a:off x="7873342" y="2425310"/>
              <a:ext cx="676298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09049C3D-E49A-8212-8AD6-5F044AA80192}"/>
                </a:ext>
              </a:extLst>
            </p:cNvPr>
            <p:cNvCxnSpPr>
              <a:cxnSpLocks/>
              <a:stCxn id="63" idx="3"/>
            </p:cNvCxnSpPr>
            <p:nvPr/>
          </p:nvCxnSpPr>
          <p:spPr>
            <a:xfrm>
              <a:off x="4207659" y="2434157"/>
              <a:ext cx="679301" cy="0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EA60D915-C8E1-45BF-7945-FE0C5C2B34D9}"/>
                </a:ext>
              </a:extLst>
            </p:cNvPr>
            <p:cNvCxnSpPr>
              <a:cxnSpLocks/>
              <a:stCxn id="86" idx="3"/>
            </p:cNvCxnSpPr>
            <p:nvPr/>
          </p:nvCxnSpPr>
          <p:spPr>
            <a:xfrm>
              <a:off x="7960072" y="4042827"/>
              <a:ext cx="536439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F8E494BA-0A2B-1659-058C-B898C664A6EA}"/>
                </a:ext>
              </a:extLst>
            </p:cNvPr>
            <p:cNvSpPr/>
            <p:nvPr/>
          </p:nvSpPr>
          <p:spPr>
            <a:xfrm>
              <a:off x="2587832" y="4724946"/>
              <a:ext cx="3420205" cy="49996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800" dirty="0">
                  <a:solidFill>
                    <a:schemeClr val="bg1"/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rPr>
                <a:t>Bicubic Interpolation</a:t>
              </a:r>
              <a:endParaRPr lang="ko-KR" altLang="en-US" sz="2800" dirty="0">
                <a:solidFill>
                  <a:schemeClr val="bg1"/>
                </a:solidFill>
                <a:latin typeface="Arial" panose="020B0604020202020204" pitchFamily="34" charset="0"/>
                <a:ea typeface="Pretendard Medium" panose="0200060300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D035DFEE-9F19-0463-B5EC-41C4B564743C}"/>
                </a:ext>
              </a:extLst>
            </p:cNvPr>
            <p:cNvSpPr/>
            <p:nvPr/>
          </p:nvSpPr>
          <p:spPr>
            <a:xfrm>
              <a:off x="6215303" y="4724946"/>
              <a:ext cx="3420204" cy="499964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2800" dirty="0" err="1">
                  <a:solidFill>
                    <a:schemeClr val="bg1"/>
                  </a:solidFill>
                  <a:latin typeface="Arial" panose="020B0604020202020204" pitchFamily="34" charset="0"/>
                  <a:ea typeface="Pretendard Medium" panose="02000603000000020004" pitchFamily="50" charset="-127"/>
                  <a:cs typeface="Arial" panose="020B0604020202020204" pitchFamily="34" charset="0"/>
                </a:rPr>
                <a:t>OmniLive</a:t>
              </a:r>
              <a:endParaRPr lang="ko-KR" altLang="en-US" sz="2800" dirty="0">
                <a:solidFill>
                  <a:schemeClr val="bg1"/>
                </a:solidFill>
                <a:latin typeface="Arial" panose="020B0604020202020204" pitchFamily="34" charset="0"/>
                <a:ea typeface="Pretendard Medium" panose="0200060300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1108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63</Words>
  <Application>Microsoft Office PowerPoint</Application>
  <PresentationFormat>와이드스크린</PresentationFormat>
  <Paragraphs>27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Seonghoon</dc:creator>
  <cp:lastModifiedBy>Park, Seonghoon</cp:lastModifiedBy>
  <cp:revision>12</cp:revision>
  <dcterms:created xsi:type="dcterms:W3CDTF">2026-07-20T16:29:17Z</dcterms:created>
  <dcterms:modified xsi:type="dcterms:W3CDTF">2026-07-20T17:08:57Z</dcterms:modified>
</cp:coreProperties>
</file>